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8097-6753-B201-10A4-88A28DD44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F90C4-AD95-8635-870B-158CA13C3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2A6BC-E29B-C633-28A6-6252313E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35FE-A99B-528F-2482-344C82E7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6F83-CB79-413E-AEDB-212CF2BC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0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5F16-70D9-C4DA-31F2-E5342AD26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A7149-7107-82A5-CC71-BC8F9C58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814A3-C001-0BF8-CA66-CE7122C1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3A772-B744-B810-96A4-242B2B635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AA7A2-6257-6373-9359-80EE23AF9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BF8B-8389-6104-8FD9-2486744F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CEE64-E3F6-E328-13AA-6D3D7EF1D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33FA9-2FF5-FD2E-70C0-E01E8EEA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B0B87-D43F-AA3D-9048-E5306F7B3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C130C-023D-1F55-3C57-C877DDE8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74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E5B3-4475-F800-7C75-1ED85C7C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63F81-F976-5E91-0EF5-0F1376F10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FBA6A8-1FA1-9DAB-5B36-B8A7CA443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8BD39-0CB7-1E17-14EB-D109EDF1A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68875-16C8-35B0-30DE-66643096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5E5AF-AF23-4319-400B-FA110704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08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B373-5134-3912-DB93-E0E626B3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45C49-6AAB-8B15-6433-5B0E1400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E63F2-88FD-F90A-42A9-27A4DB792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86DF5-127A-8B2D-30E8-18FD6744FE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69444-76F0-BCB4-F913-ADEA08A51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D75A3F-C1D7-A192-E5BC-E2A8DE6B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D1134-BF46-84FC-E7F3-4186353C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35255-8D76-A982-A32B-100BB942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9FE6-E051-88F3-2196-C1EB76FB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8F6C21-4A17-0845-3C94-912D830C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02DB0-1FCB-F8CC-FD6F-96384E660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2246C-B67D-9771-FDF2-7AF8D2FB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0ADBF4-7EC7-5ABA-5E22-931E7F42E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30841-6DB1-91B6-1930-9EC10C41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832B-EF24-65E9-FF9D-80E13B8C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19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B9EDB-E49B-0892-7EDE-FA71460B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7F1C4-EB05-6A16-C2D5-5D2EBAA9D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03F84-574A-610B-D1D6-86DD75406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B1FE-FC50-BB8C-BE13-F3668A9F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73C31-C98D-3615-DFA1-4001A8E5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596FA-75CA-3AD5-9354-3CB2DB10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3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EB27-95D8-0D40-C599-BF59F7F91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25095-DBA1-0430-1256-EC61BDE72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C02E4-C068-8BF6-FA96-65FC742B2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C60AC-DF78-CCFB-A388-62CA2ED5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D296F-1C2E-0269-AEA7-925E979B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7332F5-AAE4-116D-B8F5-8EA38337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19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F894-9854-82A1-F9E1-3980DFA8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D7CA8-E64F-4AD3-D040-DFA2DD0A8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C917-1559-A506-94E0-FE575875F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124DD-B337-F147-1457-C71471E2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91D5D-43DF-BA90-1191-71546829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4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1E6D4-20DB-3060-8D89-8B5CEC40A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25991-5F6B-4FCC-7A6C-AE55FD33B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2810E-577B-6BA0-5289-B2BD5C52B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2983A-0C4D-1A84-59E7-D20B4B1B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59D9D-253B-7983-2F13-FA5492E7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6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CB0970-FF22-A52E-FA08-3B6A892C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3C3BF-761E-DFB7-C6AA-DEE4CCA3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EB7A3-1DEF-42C3-B3AF-4136B7EAE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0DF53-C634-445B-8F4A-768F58C96995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826A5-62F4-86CD-C595-405C1F62D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3C7E-1441-F6DA-3D05-606D9A6EA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F5520-8871-4A5E-B82C-71F1C446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6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4AA1-A408-FBD2-9963-A8BE5DA61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58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</a:rPr>
              <a:t>e‑Triage </a:t>
            </a:r>
            <a:r>
              <a:rPr lang="en-US" dirty="0"/>
              <a:t>– Reducing ER Wait Times Through Remote Digital Triage and Telemedicine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CC28-0997-464B-916E-F511E9BA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1430"/>
            <a:ext cx="9144000" cy="339942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Team Members:</a:t>
            </a:r>
          </a:p>
          <a:p>
            <a:pPr algn="l"/>
            <a:r>
              <a:rPr lang="en-US" dirty="0"/>
              <a:t>Bright Ekeator (Team Lead) – 300318200</a:t>
            </a:r>
            <a:br>
              <a:rPr lang="en-US" dirty="0"/>
            </a:br>
            <a:r>
              <a:rPr lang="en-US" dirty="0"/>
              <a:t>AJ Encina – 300381971</a:t>
            </a:r>
          </a:p>
          <a:p>
            <a:pPr algn="l"/>
            <a:r>
              <a:rPr lang="en-US" dirty="0"/>
              <a:t>Course: CSIS 4495‑003</a:t>
            </a:r>
            <a:br>
              <a:rPr lang="en-US" dirty="0"/>
            </a:br>
            <a:r>
              <a:rPr lang="en-US" dirty="0"/>
              <a:t>Date: April 7, 2026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Demo Video: https://drive.google.com/file/d/1h-vvey3LUNs7Ak4sPvbWLm-n1wfkAXlv/view</a:t>
            </a:r>
          </a:p>
        </p:txBody>
      </p:sp>
    </p:spTree>
    <p:extLst>
      <p:ext uri="{BB962C8B-B14F-4D97-AF65-F5344CB8AC3E}">
        <p14:creationId xmlns:p14="http://schemas.microsoft.com/office/powerpoint/2010/main" val="100706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0CB5-FE79-EA6C-AAE2-8A6C25F8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888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C1C8A-12BB-2E6F-478A-D882D4795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Problem &amp; Motivation</a:t>
            </a:r>
          </a:p>
          <a:p>
            <a:r>
              <a:rPr lang="en-US" dirty="0"/>
              <a:t>What is e‑Triage? </a:t>
            </a:r>
          </a:p>
          <a:p>
            <a:r>
              <a:rPr lang="en-US" dirty="0"/>
              <a:t>(Overview)</a:t>
            </a:r>
          </a:p>
          <a:p>
            <a:r>
              <a:rPr lang="en-US" dirty="0"/>
              <a:t>Novelty &amp; Utility</a:t>
            </a:r>
          </a:p>
          <a:p>
            <a:r>
              <a:rPr lang="en-US" dirty="0"/>
              <a:t>Full Technology Stack</a:t>
            </a:r>
          </a:p>
          <a:p>
            <a:r>
              <a:rPr lang="en-US" dirty="0"/>
              <a:t>Key Features (with screenshots described)</a:t>
            </a:r>
          </a:p>
          <a:p>
            <a:r>
              <a:rPr lang="en-US" dirty="0"/>
              <a:t>Challenges Faced</a:t>
            </a:r>
          </a:p>
          <a:p>
            <a:r>
              <a:rPr lang="en-US" dirty="0"/>
              <a:t>Lessons Learned</a:t>
            </a:r>
          </a:p>
          <a:p>
            <a:r>
              <a:rPr lang="en-US" dirty="0"/>
              <a:t>Evaluation &amp; Results</a:t>
            </a:r>
          </a:p>
          <a:p>
            <a:r>
              <a:rPr lang="en-US" dirty="0"/>
              <a:t>Live Demo (video link)</a:t>
            </a:r>
          </a:p>
          <a:p>
            <a:r>
              <a:rPr lang="en-US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8858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DA2C-B339-9618-791C-B6E13E1F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– ER Overcrowding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C40F0-0A60-5D41-838B-79DB94B9E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Traditional triage starts only after the patient arrives physically.</a:t>
            </a:r>
          </a:p>
          <a:p>
            <a:r>
              <a:rPr lang="en-US" dirty="0"/>
              <a:t> Results:  </a:t>
            </a:r>
          </a:p>
          <a:p>
            <a:pPr lvl="1"/>
            <a:r>
              <a:rPr lang="en-US" dirty="0"/>
              <a:t>Crowded waiting rooms </a:t>
            </a:r>
          </a:p>
          <a:p>
            <a:pPr lvl="1"/>
            <a:r>
              <a:rPr lang="en-US" dirty="0"/>
              <a:t>Long wait times (20+ hours in some Canadian provinces)  </a:t>
            </a:r>
          </a:p>
          <a:p>
            <a:pPr lvl="1"/>
            <a:r>
              <a:rPr lang="en-US" dirty="0"/>
              <a:t>High “Left Without Being Seen” (LWBS) rates  </a:t>
            </a:r>
          </a:p>
          <a:p>
            <a:pPr lvl="1"/>
            <a:r>
              <a:rPr lang="en-US" dirty="0"/>
              <a:t>Delayed care for high‑acuity patients</a:t>
            </a:r>
          </a:p>
          <a:p>
            <a:pPr lvl="2"/>
            <a:r>
              <a:rPr lang="en-US" dirty="0"/>
              <a:t>Existing digital tools are standalone, lack clinician oversight, and do not integrate with ED workflows.</a:t>
            </a:r>
          </a:p>
        </p:txBody>
      </p:sp>
    </p:spTree>
    <p:extLst>
      <p:ext uri="{BB962C8B-B14F-4D97-AF65-F5344CB8AC3E}">
        <p14:creationId xmlns:p14="http://schemas.microsoft.com/office/powerpoint/2010/main" val="324834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0744-6785-792E-8C01-06A191C06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e‑Triage?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6ACF4-E806-CBEE-C38E-1F9F09480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web‑based platform that enables:  </a:t>
            </a:r>
          </a:p>
          <a:p>
            <a:pPr lvl="1"/>
            <a:r>
              <a:rPr lang="en-US" dirty="0"/>
              <a:t>Patients to submit a triage request from home (email OTP, no password)</a:t>
            </a:r>
          </a:p>
          <a:p>
            <a:pPr lvl="1"/>
            <a:r>
              <a:rPr lang="en-US" dirty="0"/>
              <a:t>Nurses to review, adjust triage levels, write recommendations, and set follow‑up (“watch”) </a:t>
            </a:r>
          </a:p>
          <a:p>
            <a:pPr lvl="1"/>
            <a:r>
              <a:rPr lang="en-US" dirty="0"/>
              <a:t>Doctors to conclude cases and request patients to come to the clinical area </a:t>
            </a:r>
          </a:p>
          <a:p>
            <a:pPr lvl="1"/>
            <a:r>
              <a:rPr lang="en-US" dirty="0"/>
              <a:t>Public to see </a:t>
            </a:r>
            <a:r>
              <a:rPr lang="en-US" dirty="0" err="1"/>
              <a:t>anonymised</a:t>
            </a:r>
            <a:r>
              <a:rPr lang="en-US" dirty="0"/>
              <a:t> queue status</a:t>
            </a:r>
          </a:p>
          <a:p>
            <a:pPr lvl="2"/>
            <a:r>
              <a:rPr lang="en-US" dirty="0"/>
              <a:t>Real‑time WebSocket updates + WebRTC audio/video calls</a:t>
            </a:r>
          </a:p>
        </p:txBody>
      </p:sp>
    </p:spTree>
    <p:extLst>
      <p:ext uri="{BB962C8B-B14F-4D97-AF65-F5344CB8AC3E}">
        <p14:creationId xmlns:p14="http://schemas.microsoft.com/office/powerpoint/2010/main" val="378064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482B-2FDF-4FC1-8A91-22ECE72B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Novelty – What Makes It Different?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9C63C0-09F0-BE3E-468B-7481EABEE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174478"/>
              </p:ext>
            </p:extLst>
          </p:nvPr>
        </p:nvGraphicFramePr>
        <p:xfrm>
          <a:off x="838200" y="1825624"/>
          <a:ext cx="10515600" cy="3115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318550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45976329"/>
                    </a:ext>
                  </a:extLst>
                </a:gridCol>
              </a:tblGrid>
              <a:tr h="41807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Existing Systems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e-Triage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16229"/>
                  </a:ext>
                </a:extLst>
              </a:tr>
              <a:tr h="721603">
                <a:tc>
                  <a:txBody>
                    <a:bodyPr/>
                    <a:lstStyle/>
                    <a:p>
                      <a:r>
                        <a:rPr lang="en-US" dirty="0"/>
                        <a:t>Static decision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ML + nurse overrides + calibration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252893"/>
                  </a:ext>
                </a:extLst>
              </a:tr>
              <a:tr h="721603">
                <a:tc>
                  <a:txBody>
                    <a:bodyPr/>
                    <a:lstStyle/>
                    <a:p>
                      <a:r>
                        <a:rPr lang="en-US" dirty="0"/>
                        <a:t>No live clinician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Human-in-the-loop for every case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714"/>
                  </a:ext>
                </a:extLst>
              </a:tr>
              <a:tr h="418071">
                <a:tc>
                  <a:txBody>
                    <a:bodyPr/>
                    <a:lstStyle/>
                    <a:p>
                      <a:r>
                        <a:rPr lang="en-US" dirty="0"/>
                        <a:t>Standalone, no ED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Role-based workflows (patient → nurse → doctor)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86909"/>
                  </a:ext>
                </a:extLst>
              </a:tr>
              <a:tr h="418071">
                <a:tc>
                  <a:txBody>
                    <a:bodyPr/>
                    <a:lstStyle/>
                    <a:p>
                      <a:r>
                        <a:rPr lang="en-US" dirty="0"/>
                        <a:t>No real-time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WebSockets</a:t>
                      </a:r>
                      <a:r>
                        <a:rPr lang="en-US" dirty="0"/>
                        <a:t> + WebRTC for instant status and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805944"/>
                  </a:ext>
                </a:extLst>
              </a:tr>
              <a:tr h="418071">
                <a:tc>
                  <a:txBody>
                    <a:bodyPr/>
                    <a:lstStyle/>
                    <a:p>
                      <a:r>
                        <a:rPr lang="en-US" dirty="0"/>
                        <a:t>No public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Anonymised</a:t>
                      </a:r>
                      <a:r>
                        <a:rPr lang="en-US" dirty="0"/>
                        <a:t> queue board (waiting counts, no PHI)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63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28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E016-F5F8-8C4F-19BD-0851A523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– Who Benefits?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6A308-BD65-7573-733C-12830FEE1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Patients: Faster initial assessment, no account creation, see nurse recommendations, join video call, resolve case online.</a:t>
            </a:r>
          </a:p>
          <a:p>
            <a:r>
              <a:rPr lang="en-US" dirty="0"/>
              <a:t>Nurses: ML‑sorted queue, override with reason, “watch” for timed follow‑up, forward to doctor, audit trail.</a:t>
            </a:r>
          </a:p>
          <a:p>
            <a:r>
              <a:rPr lang="en-US" dirty="0"/>
              <a:t>Doctors: Review nurse‑forwarded cases, request patient at desk, conclude with audit log.</a:t>
            </a:r>
          </a:p>
          <a:p>
            <a:r>
              <a:rPr lang="en-US" dirty="0"/>
              <a:t>Public / Administrators: </a:t>
            </a:r>
            <a:r>
              <a:rPr lang="en-US" dirty="0" err="1"/>
              <a:t>Anonymised</a:t>
            </a:r>
            <a:r>
              <a:rPr lang="en-US" dirty="0"/>
              <a:t> queue transparency, aggregate waiting counts.</a:t>
            </a:r>
          </a:p>
        </p:txBody>
      </p:sp>
    </p:spTree>
    <p:extLst>
      <p:ext uri="{BB962C8B-B14F-4D97-AF65-F5344CB8AC3E}">
        <p14:creationId xmlns:p14="http://schemas.microsoft.com/office/powerpoint/2010/main" val="3988316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0DD5-7166-A02B-CBB8-61308B08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47032-B892-A72D-FD95-B5006C55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17"/>
            <a:ext cx="10515600" cy="491305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Frontend</a:t>
            </a:r>
          </a:p>
          <a:p>
            <a:pPr lvl="1"/>
            <a:r>
              <a:rPr lang="en-US" dirty="0"/>
              <a:t>React 18 (functional components, hooks)</a:t>
            </a:r>
          </a:p>
          <a:p>
            <a:pPr lvl="1"/>
            <a:r>
              <a:rPr lang="en-US" dirty="0"/>
              <a:t>CSS Modules (dark theme, responsive)</a:t>
            </a:r>
          </a:p>
          <a:p>
            <a:pPr lvl="1"/>
            <a:r>
              <a:rPr lang="en-US" dirty="0"/>
              <a:t>React Router- WebSocket client + simple‑peer (WebRTC)</a:t>
            </a:r>
          </a:p>
          <a:p>
            <a:r>
              <a:rPr lang="en-US" dirty="0"/>
              <a:t>Backend</a:t>
            </a:r>
          </a:p>
          <a:p>
            <a:pPr lvl="1"/>
            <a:r>
              <a:rPr lang="en-US" dirty="0"/>
              <a:t>Node.js + Express</a:t>
            </a:r>
          </a:p>
          <a:p>
            <a:pPr lvl="1"/>
            <a:r>
              <a:rPr lang="en-US" dirty="0"/>
              <a:t>PostgreSQL (hosted on </a:t>
            </a:r>
            <a:r>
              <a:rPr lang="en-US" dirty="0" err="1"/>
              <a:t>Supabase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JWT (role‑based: patient/nurse/doctor)</a:t>
            </a:r>
          </a:p>
          <a:p>
            <a:pPr lvl="1"/>
            <a:r>
              <a:rPr lang="en-US" dirty="0"/>
              <a:t>WebSocket server (</a:t>
            </a:r>
            <a:r>
              <a:rPr lang="en-US" dirty="0" err="1"/>
              <a:t>ws</a:t>
            </a:r>
            <a:r>
              <a:rPr lang="en-US" dirty="0"/>
              <a:t> library)</a:t>
            </a:r>
          </a:p>
          <a:p>
            <a:pPr lvl="1"/>
            <a:r>
              <a:rPr lang="en-US" dirty="0" err="1"/>
              <a:t>Nodemailer</a:t>
            </a:r>
            <a:r>
              <a:rPr lang="en-US" dirty="0"/>
              <a:t> (OTP via SendGrid)</a:t>
            </a:r>
          </a:p>
          <a:p>
            <a:r>
              <a:rPr lang="en-US" dirty="0"/>
              <a:t>ML / AI</a:t>
            </a:r>
          </a:p>
          <a:p>
            <a:pPr lvl="1"/>
            <a:r>
              <a:rPr lang="en-US" dirty="0"/>
              <a:t>Python Flask API (fallback: rule‑based ESI‑like logic)</a:t>
            </a:r>
          </a:p>
          <a:p>
            <a:pPr lvl="1"/>
            <a:r>
              <a:rPr lang="en-US" dirty="0"/>
              <a:t>Calibration table that learns from nurse overrides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57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F8D14-3BCF-2926-B265-F4B87D30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– Patient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6B4B-7275-5936-5DB9-CB54927D7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OTP verification – email only, no password (code in otp.js)</a:t>
            </a:r>
          </a:p>
          <a:p>
            <a:r>
              <a:rPr lang="en-US" dirty="0"/>
              <a:t>Symptom form – chief complaint, urgency 1‑5, multiple symptoms, optional demographics</a:t>
            </a:r>
          </a:p>
          <a:p>
            <a:r>
              <a:rPr lang="en-US" dirty="0"/>
              <a:t>Real‑time status – polls every 12 seconds, plus WebSocket push</a:t>
            </a:r>
          </a:p>
          <a:p>
            <a:r>
              <a:rPr lang="en-US" dirty="0"/>
              <a:t>Nurse recommendation displayed prominently</a:t>
            </a:r>
          </a:p>
          <a:p>
            <a:r>
              <a:rPr lang="en-US" dirty="0"/>
              <a:t>Doctor summon alert – “Please go to nursing desk”</a:t>
            </a:r>
            <a:br>
              <a:rPr lang="en-US" dirty="0"/>
            </a:br>
            <a:r>
              <a:rPr lang="en-US" dirty="0"/>
              <a:t>Patient actions – withdraw (quit) or self‑resolve (“I feel better”)</a:t>
            </a:r>
          </a:p>
          <a:p>
            <a:r>
              <a:rPr lang="en-US" dirty="0"/>
              <a:t>Telemedicine – join audio/video call (WebRTC)</a:t>
            </a:r>
          </a:p>
        </p:txBody>
      </p:sp>
    </p:spTree>
    <p:extLst>
      <p:ext uri="{BB962C8B-B14F-4D97-AF65-F5344CB8AC3E}">
        <p14:creationId xmlns:p14="http://schemas.microsoft.com/office/powerpoint/2010/main" val="142656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6A3FC-B125-7E28-E571-659056A7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– Nurse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F0D9-8528-BA7F-4F09-4D647F59B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Queue sorted by ML priority (lowest level = most urgent)</a:t>
            </a:r>
          </a:p>
          <a:p>
            <a:r>
              <a:rPr lang="en-US" dirty="0"/>
              <a:t>Manual reorder (move up/down) and reset to ML order</a:t>
            </a:r>
          </a:p>
          <a:p>
            <a:r>
              <a:rPr lang="en-US" dirty="0"/>
              <a:t>Case view: </a:t>
            </a:r>
          </a:p>
          <a:p>
            <a:pPr lvl="1"/>
            <a:r>
              <a:rPr lang="en-US" dirty="0"/>
              <a:t>Patient info, symptoms, automated level, ML suggestion  </a:t>
            </a:r>
          </a:p>
          <a:p>
            <a:pPr lvl="1"/>
            <a:r>
              <a:rPr lang="en-US" dirty="0"/>
              <a:t>Override triage level (1‑5) with reason  </a:t>
            </a:r>
          </a:p>
          <a:p>
            <a:pPr lvl="1"/>
            <a:r>
              <a:rPr lang="en-US" dirty="0"/>
              <a:t>Write patient‑facing recommendation  </a:t>
            </a:r>
          </a:p>
          <a:p>
            <a:pPr lvl="1"/>
            <a:r>
              <a:rPr lang="en-US" dirty="0"/>
              <a:t>Set “watch” (next review date/time)  </a:t>
            </a:r>
          </a:p>
          <a:p>
            <a:pPr lvl="1"/>
            <a:r>
              <a:rPr lang="en-US" dirty="0"/>
              <a:t>Forward to doctor or mark complete (nurse‑complete)</a:t>
            </a:r>
          </a:p>
          <a:p>
            <a:pPr lvl="2"/>
            <a:r>
              <a:rPr lang="en-US" dirty="0"/>
              <a:t>Alert banner for due watch cases and doctor summoned requests</a:t>
            </a:r>
          </a:p>
          <a:p>
            <a:pPr lvl="2"/>
            <a:r>
              <a:rPr lang="en-US" dirty="0"/>
              <a:t>Audit log for all actions</a:t>
            </a:r>
          </a:p>
        </p:txBody>
      </p:sp>
    </p:spTree>
    <p:extLst>
      <p:ext uri="{BB962C8B-B14F-4D97-AF65-F5344CB8AC3E}">
        <p14:creationId xmlns:p14="http://schemas.microsoft.com/office/powerpoint/2010/main" val="237397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FC53-0837-1D64-F771-EF0D7CD2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– Doctor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BEBE-AD64-CAA5-D6DA-738C68E39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tabs: Under review (nurse‑forwarded), Requested (patients summoned to desk), History (concluded cases)</a:t>
            </a:r>
          </a:p>
          <a:p>
            <a:r>
              <a:rPr lang="en-US" dirty="0"/>
              <a:t>Case page:  </a:t>
            </a:r>
          </a:p>
          <a:p>
            <a:pPr lvl="1"/>
            <a:r>
              <a:rPr lang="en-US" dirty="0"/>
              <a:t>Shows nurse’s recommendation and override reason  </a:t>
            </a:r>
          </a:p>
          <a:p>
            <a:pPr lvl="1"/>
            <a:r>
              <a:rPr lang="en-US" dirty="0"/>
              <a:t>Request patient button (with optional note) → status becomes </a:t>
            </a:r>
            <a:r>
              <a:rPr lang="en-US" dirty="0" err="1"/>
              <a:t>doctor_summoned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Conclude case button (adds audit log entry)</a:t>
            </a:r>
          </a:p>
          <a:p>
            <a:pPr lvl="2"/>
            <a:r>
              <a:rPr lang="en-US" dirty="0"/>
              <a:t>Real‑time WebSocket notifies nurse when doctor requests patient</a:t>
            </a:r>
          </a:p>
        </p:txBody>
      </p:sp>
    </p:spTree>
    <p:extLst>
      <p:ext uri="{BB962C8B-B14F-4D97-AF65-F5344CB8AC3E}">
        <p14:creationId xmlns:p14="http://schemas.microsoft.com/office/powerpoint/2010/main" val="3062993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A3B50-C87E-9DC9-D43C-F7D45BCCC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– Public Queue &amp; Telemedicine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D5A26-BEF2-F6A6-D1D0-A3F5EA3FE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Queue (/er-queue)</a:t>
            </a:r>
          </a:p>
          <a:p>
            <a:pPr lvl="1"/>
            <a:r>
              <a:rPr lang="en-US" dirty="0"/>
              <a:t>Shows pending, active, concluded counts only – no names or clinical details</a:t>
            </a:r>
          </a:p>
          <a:p>
            <a:pPr lvl="1"/>
            <a:r>
              <a:rPr lang="en-US" dirty="0" err="1"/>
              <a:t>Anonymised</a:t>
            </a:r>
            <a:r>
              <a:rPr lang="en-US" dirty="0"/>
              <a:t> table (e.g., Q0023, Level 3, pending) – good for transparency</a:t>
            </a:r>
          </a:p>
          <a:p>
            <a:r>
              <a:rPr lang="en-US" dirty="0"/>
              <a:t>Telemedicine (WebRTC)</a:t>
            </a:r>
          </a:p>
          <a:p>
            <a:pPr lvl="1"/>
            <a:r>
              <a:rPr lang="en-US" dirty="0"/>
              <a:t>Initiated from nurse or patient dashboard</a:t>
            </a:r>
          </a:p>
          <a:p>
            <a:pPr lvl="1"/>
            <a:r>
              <a:rPr lang="en-US" dirty="0"/>
              <a:t>Uses simple-peer library + Google STUN server</a:t>
            </a:r>
          </a:p>
          <a:p>
            <a:pPr lvl="1"/>
            <a:r>
              <a:rPr lang="en-US" dirty="0"/>
              <a:t>Audio‑only or video mode</a:t>
            </a:r>
          </a:p>
          <a:p>
            <a:pPr lvl="1"/>
            <a:r>
              <a:rPr lang="en-US" dirty="0"/>
              <a:t>Signaling over existing WebSocket (no extra infra)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540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7065-C37F-70D5-4242-A646FEB3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Faced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2092D-0F26-186D-56F1-503A014B5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874374"/>
              </p:ext>
            </p:extLst>
          </p:nvPr>
        </p:nvGraphicFramePr>
        <p:xfrm>
          <a:off x="838200" y="1921079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619855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221591"/>
                    </a:ext>
                  </a:extLst>
                </a:gridCol>
              </a:tblGrid>
              <a:tr h="2753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9977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WebRTC complexity (SDP, STUN/TURN)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simple-peer library + Google public STUN; kept audio-only fallback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9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OTP email delivery (SMTP config, SendGrid sandbox)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Added clear error messages + OTP_DEBUG_LOG for development; demo mode bypasses email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41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 sync across roles (patient, nurse, doctor)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Atomic DB updates + WebSocket broadcast (caseRoom.js)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03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 creep (audit log, watch, doctor-summoned, public queue)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Cut planned simulation engine; </a:t>
                      </a:r>
                      <a:r>
                        <a:rPr lang="en-US" dirty="0" err="1"/>
                        <a:t>prioritised</a:t>
                      </a:r>
                      <a:r>
                        <a:rPr lang="en-US" dirty="0"/>
                        <a:t> must-have features in Trello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37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57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D614-C2E9-3E9A-D240-EDF9E2C9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B0C2A-74CC-55A7-E77C-57792819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with an MVP end‑to‑end happy path. (We built the full form first – mistake)</a:t>
            </a:r>
          </a:p>
          <a:p>
            <a:r>
              <a:rPr lang="en-US" dirty="0"/>
              <a:t>Use environment variables aggressively. (Hardcoded URLs caused bugs)</a:t>
            </a:r>
          </a:p>
          <a:p>
            <a:r>
              <a:rPr lang="en-US" dirty="0"/>
              <a:t>Regular code reviews catch security issues. (Audit log revealed missing ownership checks)</a:t>
            </a:r>
          </a:p>
          <a:p>
            <a:r>
              <a:rPr lang="en-US" dirty="0"/>
              <a:t>Document API endpoints as you build. (We retro‑documented – painful)</a:t>
            </a:r>
          </a:p>
          <a:p>
            <a:r>
              <a:rPr lang="en-US" dirty="0"/>
              <a:t>Human‑in‑the‑loop is non‑negotiable for triage. (16.7% override rate proved ML alone unsafe)</a:t>
            </a:r>
          </a:p>
        </p:txBody>
      </p:sp>
    </p:spTree>
    <p:extLst>
      <p:ext uri="{BB962C8B-B14F-4D97-AF65-F5344CB8AC3E}">
        <p14:creationId xmlns:p14="http://schemas.microsoft.com/office/powerpoint/2010/main" val="802335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9837-9AB1-8F23-DEB3-933AAC6E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FAC6-5B1D-4188-ACE9-3AFBCF7FC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ML Accuracy (500 historical cases)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lvl="1"/>
            <a:r>
              <a:rPr lang="en-US" dirty="0"/>
              <a:t>Wait time MAE improved from 38 min (rule) to 22.7 min (</a:t>
            </a:r>
            <a:r>
              <a:rPr lang="en-US" dirty="0" err="1"/>
              <a:t>ML+calibration</a:t>
            </a:r>
            <a:r>
              <a:rPr lang="en-US" dirty="0"/>
              <a:t>)-</a:t>
            </a:r>
          </a:p>
          <a:p>
            <a:pPr lvl="1"/>
            <a:r>
              <a:rPr lang="en-US" dirty="0"/>
              <a:t>Nurse safety score (1‑5) rose from 2.8 to 4.6</a:t>
            </a:r>
          </a:p>
          <a:p>
            <a:pPr marL="0" indent="0">
              <a:buNone/>
            </a:pPr>
            <a:r>
              <a:rPr lang="en-US" dirty="0"/>
              <a:t>User testing (3 nurses, 5 patients)</a:t>
            </a:r>
          </a:p>
          <a:p>
            <a:pPr lvl="1"/>
            <a:r>
              <a:rPr lang="en-US" dirty="0"/>
              <a:t>Added “mark complete” for nurses, watch alert banner, doctor dashboard nurse name.</a:t>
            </a:r>
          </a:p>
          <a:p>
            <a:pPr marL="0" indent="0">
              <a:buNone/>
            </a:pPr>
            <a:r>
              <a:rPr lang="en-US" sz="2200" dirty="0"/>
              <a:t>Performance – p95 API latency &lt; 100 </a:t>
            </a:r>
            <a:r>
              <a:rPr lang="en-US" sz="2200" dirty="0" err="1"/>
              <a:t>ms</a:t>
            </a:r>
            <a:r>
              <a:rPr lang="en-US" sz="2200" dirty="0"/>
              <a:t> for most endpoints; ML service fallback in place.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1217C0-19E6-E9E6-55B6-2DB9E3C8E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070143"/>
              </p:ext>
            </p:extLst>
          </p:nvPr>
        </p:nvGraphicFramePr>
        <p:xfrm>
          <a:off x="838200" y="2291766"/>
          <a:ext cx="970676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587">
                  <a:extLst>
                    <a:ext uri="{9D8B030D-6E8A-4147-A177-3AD203B41FA5}">
                      <a16:colId xmlns:a16="http://schemas.microsoft.com/office/drawing/2014/main" val="3015599429"/>
                    </a:ext>
                  </a:extLst>
                </a:gridCol>
                <a:gridCol w="3235587">
                  <a:extLst>
                    <a:ext uri="{9D8B030D-6E8A-4147-A177-3AD203B41FA5}">
                      <a16:colId xmlns:a16="http://schemas.microsoft.com/office/drawing/2014/main" val="2365617646"/>
                    </a:ext>
                  </a:extLst>
                </a:gridCol>
                <a:gridCol w="3235587">
                  <a:extLst>
                    <a:ext uri="{9D8B030D-6E8A-4147-A177-3AD203B41FA5}">
                      <a16:colId xmlns:a16="http://schemas.microsoft.com/office/drawing/2014/main" val="2535243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Exact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±1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402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91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31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 +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08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65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28D7F-9873-D1D6-9FE1-F10C4CF6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1FA03-CB93-902C-5E39-A9FE37013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 app (React Native)</a:t>
            </a:r>
          </a:p>
          <a:p>
            <a:r>
              <a:rPr lang="en-US" dirty="0"/>
              <a:t>EHR integration (HL7/FHIR) – auto‑import patient history</a:t>
            </a:r>
          </a:p>
          <a:p>
            <a:r>
              <a:rPr lang="en-US" dirty="0"/>
              <a:t>Better ML – use BERT for chief complaint parsing, add more vitals</a:t>
            </a:r>
          </a:p>
          <a:p>
            <a:r>
              <a:rPr lang="en-US" dirty="0"/>
              <a:t>SMS OTP as fallback</a:t>
            </a:r>
          </a:p>
          <a:p>
            <a:r>
              <a:rPr lang="en-US" dirty="0"/>
              <a:t>Real‑time waiting time predictions using live queue data</a:t>
            </a:r>
          </a:p>
        </p:txBody>
      </p:sp>
    </p:spTree>
    <p:extLst>
      <p:ext uri="{BB962C8B-B14F-4D97-AF65-F5344CB8AC3E}">
        <p14:creationId xmlns:p14="http://schemas.microsoft.com/office/powerpoint/2010/main" val="3345251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C37B-1A0A-CCA3-3E36-062F43214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70F5D-D1A4-106B-28D3-85996F57C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e‑Triage successfully moves triage online while keeping clinicians in control.</a:t>
            </a:r>
          </a:p>
          <a:p>
            <a:r>
              <a:rPr lang="en-US" dirty="0"/>
              <a:t>Novelty: ML + nurse overrides + calibration + doctor‑summoned + public queue.</a:t>
            </a:r>
          </a:p>
          <a:p>
            <a:r>
              <a:rPr lang="en-US" dirty="0"/>
              <a:t>Utility: reduces waiting room congestion, improves patient experience, </a:t>
            </a:r>
            <a:r>
              <a:rPr lang="en-US" dirty="0" err="1"/>
              <a:t>optimises</a:t>
            </a:r>
            <a:r>
              <a:rPr lang="en-US" dirty="0"/>
              <a:t> staff workflow.</a:t>
            </a:r>
          </a:p>
          <a:p>
            <a:r>
              <a:rPr lang="en-US" dirty="0"/>
              <a:t>Technology: React, Node.js, PostgreSQL, </a:t>
            </a:r>
            <a:r>
              <a:rPr lang="en-US" dirty="0" err="1"/>
              <a:t>WebSockets</a:t>
            </a:r>
            <a:r>
              <a:rPr lang="en-US" dirty="0"/>
              <a:t>, WebRTC, Python ML.</a:t>
            </a:r>
          </a:p>
          <a:p>
            <a:r>
              <a:rPr lang="en-US" dirty="0"/>
              <a:t>Evaluation: ML accuracy improved with calibration; user feedback led to key features.</a:t>
            </a:r>
          </a:p>
          <a:p>
            <a:r>
              <a:rPr lang="en-US" dirty="0"/>
              <a:t>The system is ready for pilot deployment in a real ED setting.</a:t>
            </a:r>
          </a:p>
        </p:txBody>
      </p:sp>
    </p:spTree>
    <p:extLst>
      <p:ext uri="{BB962C8B-B14F-4D97-AF65-F5344CB8AC3E}">
        <p14:creationId xmlns:p14="http://schemas.microsoft.com/office/powerpoint/2010/main" val="1154643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9EF3-11D1-0EB8-A2E6-0D9AC2DA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E544F-9645-7344-8F21-C264E0022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11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1251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e‑Triage – Reducing ER Wait Times Through Remote Digital Triage and Telemedicine</vt:lpstr>
      <vt:lpstr>Agenda</vt:lpstr>
      <vt:lpstr>The Problem – ER Overcrowding</vt:lpstr>
      <vt:lpstr>What is e‑Triage?</vt:lpstr>
      <vt:lpstr>Novelty – What Makes It Different?</vt:lpstr>
      <vt:lpstr>Utility – Who Benefits?</vt:lpstr>
      <vt:lpstr>Technology Stack</vt:lpstr>
      <vt:lpstr>Key Features – Patient Flow</vt:lpstr>
      <vt:lpstr>Key Features – Nurse Dashboard</vt:lpstr>
      <vt:lpstr>Key Features – Doctor Dashboard</vt:lpstr>
      <vt:lpstr>Key Features – Public Queue &amp; Telemedicine</vt:lpstr>
      <vt:lpstr>Challenges Faced</vt:lpstr>
      <vt:lpstr>Lessons Learned</vt:lpstr>
      <vt:lpstr>Evaluation Results (Summary)</vt:lpstr>
      <vt:lpstr>Future Work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Encina, Aj G.</dc:creator>
  <cp:lastModifiedBy>Olanma Cheche</cp:lastModifiedBy>
  <cp:revision>4</cp:revision>
  <dcterms:created xsi:type="dcterms:W3CDTF">2026-04-14T00:00:52Z</dcterms:created>
  <dcterms:modified xsi:type="dcterms:W3CDTF">2026-04-14T01:08:23Z</dcterms:modified>
</cp:coreProperties>
</file>